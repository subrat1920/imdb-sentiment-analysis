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sldIdLst>
    <p:sldId id="258" r:id="rId2"/>
    <p:sldId id="259" r:id="rId3"/>
    <p:sldId id="261" r:id="rId4"/>
    <p:sldId id="263" r:id="rId5"/>
    <p:sldId id="264" r:id="rId6"/>
    <p:sldId id="265" r:id="rId7"/>
    <p:sldId id="266" r:id="rId8"/>
    <p:sldId id="267" r:id="rId9"/>
    <p:sldId id="268" r:id="rId10"/>
    <p:sldId id="269" r:id="rId11"/>
    <p:sldId id="275" r:id="rId12"/>
    <p:sldId id="276" r:id="rId13"/>
    <p:sldId id="271" r:id="rId14"/>
    <p:sldId id="274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66" d="100"/>
          <a:sy n="66" d="100"/>
        </p:scale>
        <p:origin x="668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E2951A-94FE-4D44-9741-E4F303398E8B}" type="datetimeFigureOut">
              <a:rPr lang="en-IN" smtClean="0"/>
              <a:t>06-04-2025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01D948-DAB1-4F24-80DD-50641CAC93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827462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E2951A-94FE-4D44-9741-E4F303398E8B}" type="datetimeFigureOut">
              <a:rPr lang="en-IN" smtClean="0"/>
              <a:t>06-04-2025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01D948-DAB1-4F24-80DD-50641CAC93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335169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E2951A-94FE-4D44-9741-E4F303398E8B}" type="datetimeFigureOut">
              <a:rPr lang="en-IN" smtClean="0"/>
              <a:t>06-04-2025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01D948-DAB1-4F24-80DD-50641CAC93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925833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E2951A-94FE-4D44-9741-E4F303398E8B}" type="datetimeFigureOut">
              <a:rPr lang="en-IN" smtClean="0"/>
              <a:t>06-04-2025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01D948-DAB1-4F24-80DD-50641CAC93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178471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E2951A-94FE-4D44-9741-E4F303398E8B}" type="datetimeFigureOut">
              <a:rPr lang="en-IN" smtClean="0"/>
              <a:t>06-04-2025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01D948-DAB1-4F24-80DD-50641CAC93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5157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E2951A-94FE-4D44-9741-E4F303398E8B}" type="datetimeFigureOut">
              <a:rPr lang="en-IN" smtClean="0"/>
              <a:t>06-04-2025</a:t>
            </a:fld>
            <a:endParaRPr lang="en-IN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01D948-DAB1-4F24-80DD-50641CAC93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35968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E2951A-94FE-4D44-9741-E4F303398E8B}" type="datetimeFigureOut">
              <a:rPr lang="en-IN" smtClean="0"/>
              <a:t>06-04-2025</a:t>
            </a:fld>
            <a:endParaRPr lang="en-IN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01D948-DAB1-4F24-80DD-50641CAC93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66316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E2951A-94FE-4D44-9741-E4F303398E8B}" type="datetimeFigureOut">
              <a:rPr lang="en-IN" smtClean="0"/>
              <a:t>06-04-2025</a:t>
            </a:fld>
            <a:endParaRPr lang="en-IN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01D948-DAB1-4F24-80DD-50641CAC93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928448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E2951A-94FE-4D44-9741-E4F303398E8B}" type="datetimeFigureOut">
              <a:rPr lang="en-IN" smtClean="0"/>
              <a:t>06-04-2025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01D948-DAB1-4F24-80DD-50641CAC93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026954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E2951A-94FE-4D44-9741-E4F303398E8B}" type="datetimeFigureOut">
              <a:rPr lang="en-IN" smtClean="0"/>
              <a:t>06-04-2025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01D948-DAB1-4F24-80DD-50641CAC93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887318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E2951A-94FE-4D44-9741-E4F303398E8B}" type="datetimeFigureOut">
              <a:rPr lang="en-IN" smtClean="0"/>
              <a:t>06-04-2025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01D948-DAB1-4F24-80DD-50641CAC93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440857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>
          <a:xfrm>
            <a:off x="1930400" y="3771174"/>
            <a:ext cx="727964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E2951A-94FE-4D44-9741-E4F303398E8B}" type="datetimeFigureOut">
              <a:rPr lang="en-IN" smtClean="0"/>
              <a:t>06-04-2025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01D948-DAB1-4F24-80DD-50641CAC9399}" type="slidenum">
              <a:rPr lang="en-IN" smtClean="0"/>
              <a:t>‹#›</a:t>
            </a:fld>
            <a:endParaRPr lang="en-IN"/>
          </a:p>
        </p:txBody>
      </p:sp>
      <p:sp>
        <p:nvSpPr>
          <p:cNvPr id="9" name="TextBox 8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52103301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E2951A-94FE-4D44-9741-E4F303398E8B}" type="datetimeFigureOut">
              <a:rPr lang="en-IN" smtClean="0"/>
              <a:t>06-04-2025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01D948-DAB1-4F24-80DD-50641CAC93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6081513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E2951A-94FE-4D44-9741-E4F303398E8B}" type="datetimeFigureOut">
              <a:rPr lang="en-IN" smtClean="0"/>
              <a:t>06-04-2025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01D948-DAB1-4F24-80DD-50641CAC93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5467723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E2951A-94FE-4D44-9741-E4F303398E8B}" type="datetimeFigureOut">
              <a:rPr lang="en-IN" smtClean="0"/>
              <a:t>06-04-2025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01D948-DAB1-4F24-80DD-50641CAC93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6138492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E2951A-94FE-4D44-9741-E4F303398E8B}" type="datetimeFigureOut">
              <a:rPr lang="en-IN" smtClean="0"/>
              <a:t>06-04-2025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01D948-DAB1-4F24-80DD-50641CAC93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295092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E2951A-94FE-4D44-9741-E4F303398E8B}" type="datetimeFigureOut">
              <a:rPr lang="en-IN" smtClean="0"/>
              <a:t>06-04-2025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01D948-DAB1-4F24-80DD-50641CAC93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55545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40000"/>
                  <a:lumOff val="60000"/>
                  <a:alpha val="7000"/>
                </a:schemeClr>
              </a:gs>
              <a:gs pos="69000">
                <a:schemeClr val="bg2">
                  <a:lumMod val="40000"/>
                  <a:lumOff val="60000"/>
                  <a:alpha val="0"/>
                </a:schemeClr>
              </a:gs>
              <a:gs pos="36000">
                <a:schemeClr val="bg2">
                  <a:lumMod val="40000"/>
                  <a:lumOff val="6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9012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B9E2951A-94FE-4D44-9741-E4F303398E8B}" type="datetimeFigureOut">
              <a:rPr lang="en-IN" smtClean="0"/>
              <a:t>06-04-2025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01D948-DAB1-4F24-80DD-50641CAC93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878802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imdb-sentiment-analysis.streamlit.app/" TargetMode="External"/><Relationship Id="rId4" Type="http://schemas.openxmlformats.org/officeDocument/2006/relationships/hyperlink" Target="http://localhost:8501/" TargetMode="Externa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8879DA-38CF-E987-016D-4F242419C5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1250" y="1376742"/>
            <a:ext cx="10307438" cy="875569"/>
          </a:xfrm>
        </p:spPr>
        <p:txBody>
          <a:bodyPr>
            <a:noAutofit/>
          </a:bodyPr>
          <a:lstStyle/>
          <a:p>
            <a:r>
              <a:rPr lang="en-IN" sz="4000" dirty="0">
                <a:solidFill>
                  <a:schemeClr val="bg2">
                    <a:lumMod val="20000"/>
                    <a:lumOff val="80000"/>
                  </a:schemeClr>
                </a:solidFill>
              </a:rPr>
              <a:t>CineMood AI: Where AI meets Emotion</a:t>
            </a:r>
            <a:endParaRPr lang="en-IN" sz="4000" b="1" dirty="0">
              <a:solidFill>
                <a:schemeClr val="bg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467946D7-55D6-4F2E-A8F3-030D0183F3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0806" y="2565134"/>
            <a:ext cx="4652595" cy="3118587"/>
          </a:xfrm>
        </p:spPr>
        <p:txBody>
          <a:bodyPr/>
          <a:lstStyle/>
          <a:p>
            <a:pPr marL="0" indent="0">
              <a:buNone/>
            </a:pPr>
            <a:r>
              <a:rPr lang="en-US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Meet our Dedicated Team Members</a:t>
            </a:r>
          </a:p>
          <a:p>
            <a:r>
              <a:rPr lang="en-US" dirty="0"/>
              <a:t>Subrat Mishra</a:t>
            </a:r>
          </a:p>
          <a:p>
            <a:r>
              <a:rPr lang="en-US" dirty="0"/>
              <a:t>Nandini Yeddula</a:t>
            </a:r>
            <a:endParaRPr lang="en-US" b="1" dirty="0"/>
          </a:p>
          <a:p>
            <a:r>
              <a:rPr lang="en-US" dirty="0"/>
              <a:t>Nandan S R</a:t>
            </a:r>
          </a:p>
          <a:p>
            <a:r>
              <a:rPr lang="en-US" dirty="0"/>
              <a:t>Ragavendra S</a:t>
            </a:r>
          </a:p>
          <a:p>
            <a:r>
              <a:rPr lang="en-US" dirty="0"/>
              <a:t>P Arjun</a:t>
            </a:r>
            <a:endParaRPr lang="en-IN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23E4492-8C41-C3C4-3E77-405AC42C7E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099" y="2565134"/>
            <a:ext cx="4081112" cy="3118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12535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FCE62F-424A-45A7-9863-22F8E1708B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CONTENTS</a:t>
            </a:r>
            <a:endParaRPr lang="en-IN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EBA797-0A5F-472C-B184-2CF2203881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0705" y="1589092"/>
            <a:ext cx="3322774" cy="4195481"/>
          </a:xfrm>
        </p:spPr>
        <p:txBody>
          <a:bodyPr/>
          <a:lstStyle/>
          <a:p>
            <a:r>
              <a:rPr lang="en-US" dirty="0">
                <a:latin typeface="Times New Roman"/>
                <a:cs typeface="Times New Roman"/>
              </a:rPr>
              <a:t>Project Description</a:t>
            </a:r>
          </a:p>
          <a:p>
            <a:r>
              <a:rPr lang="en-US" dirty="0">
                <a:latin typeface="Times New Roman"/>
                <a:cs typeface="Times New Roman"/>
              </a:rPr>
              <a:t>Import Libraries</a:t>
            </a:r>
          </a:p>
          <a:p>
            <a:r>
              <a:rPr lang="en-US" dirty="0">
                <a:latin typeface="Times New Roman"/>
                <a:cs typeface="Times New Roman"/>
              </a:rPr>
              <a:t>Data Preprocessing</a:t>
            </a:r>
          </a:p>
          <a:p>
            <a:r>
              <a:rPr lang="en-US" dirty="0">
                <a:latin typeface="Times New Roman"/>
                <a:cs typeface="Times New Roman"/>
              </a:rPr>
              <a:t>Exploratory Data Analysis</a:t>
            </a:r>
          </a:p>
          <a:p>
            <a:r>
              <a:rPr lang="en-US" dirty="0">
                <a:latin typeface="Times New Roman"/>
                <a:cs typeface="Times New Roman"/>
              </a:rPr>
              <a:t>Feature Engineering</a:t>
            </a:r>
          </a:p>
          <a:p>
            <a:r>
              <a:rPr lang="en-US" dirty="0">
                <a:latin typeface="Times New Roman"/>
                <a:cs typeface="Times New Roman"/>
              </a:rPr>
              <a:t>Model Building</a:t>
            </a:r>
          </a:p>
          <a:p>
            <a:r>
              <a:rPr lang="en-US" dirty="0">
                <a:latin typeface="Times New Roman"/>
                <a:cs typeface="Times New Roman"/>
              </a:rPr>
              <a:t>Model Evaluation</a:t>
            </a:r>
          </a:p>
          <a:p>
            <a:r>
              <a:rPr lang="en-US" dirty="0">
                <a:latin typeface="Times New Roman"/>
                <a:cs typeface="Times New Roman"/>
              </a:rPr>
              <a:t>Deployment</a:t>
            </a: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5CEAAD8-E454-65BC-FFD6-BFC59C8E23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68884" y="0"/>
            <a:ext cx="8223115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35252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448D60-081D-44B6-8741-74F44C877A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180750"/>
            <a:ext cx="6303329" cy="1400530"/>
          </a:xfrm>
        </p:spPr>
        <p:txBody>
          <a:bodyPr/>
          <a:lstStyle/>
          <a:p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/>
                <a:cs typeface="Times New Roman"/>
              </a:rPr>
              <a:t>PROJECT DESCRIPTION</a:t>
            </a:r>
            <a:br>
              <a:rPr lang="en-US" b="1" dirty="0"/>
            </a:b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Utilizing machine learning to predict IMBD sentiment analysis</a:t>
            </a:r>
            <a:br>
              <a:rPr lang="en-US" b="1" dirty="0"/>
            </a:br>
            <a:br>
              <a:rPr lang="en-US" b="1" dirty="0"/>
            </a:br>
            <a:br>
              <a:rPr lang="en-US" b="1" dirty="0"/>
            </a:br>
            <a:endParaRPr lang="en-IN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1BC76B9-EDE0-BEC1-4E80-3AC4EBC714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6110" y="1581280"/>
            <a:ext cx="5976455" cy="517565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u="sng" dirty="0">
                <a:solidFill>
                  <a:schemeClr val="bg2">
                    <a:lumMod val="60000"/>
                    <a:lumOff val="40000"/>
                  </a:schemeClr>
                </a:solidFill>
              </a:rPr>
              <a:t>CineMood</a:t>
            </a:r>
            <a:r>
              <a:rPr lang="en-US" sz="240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 </a:t>
            </a:r>
          </a:p>
          <a:p>
            <a:pPr marL="0" indent="0">
              <a:buNone/>
            </a:pPr>
            <a:r>
              <a:rPr lang="en-US" sz="1600" dirty="0"/>
              <a:t>AI is a cutting-edge, AI-powered web application designed to intelligently interpret and classify user-generated movie reviews. Leveraging advanced Natural Language Processing (NLP) techniques and deep learning models, the system identifies sentiment ranging from strongly negative to extremely positive, enabling a deeper understanding of audience emotions.</a:t>
            </a:r>
          </a:p>
          <a:p>
            <a:pPr marL="0" indent="0">
              <a:buNone/>
            </a:pPr>
            <a:r>
              <a:rPr lang="en-US" sz="1600" dirty="0"/>
              <a:t>Built with Streamlit for a seamless UI and TensorFlow/Keras for backend intelligence, the platform provides real-time predictions along with an interactive confidence meter, animated visuals, and a user-centric design to maximize engagement.</a:t>
            </a:r>
            <a:endParaRPr lang="en-IN" sz="1600" dirty="0"/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D58DAA15-F950-7C07-1310-EA4456D754C1}"/>
              </a:ext>
            </a:extLst>
          </p:cNvPr>
          <p:cNvSpPr txBox="1">
            <a:spLocks/>
          </p:cNvSpPr>
          <p:nvPr/>
        </p:nvSpPr>
        <p:spPr>
          <a:xfrm>
            <a:off x="6747309" y="1584017"/>
            <a:ext cx="5265019" cy="51756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0" indent="0">
              <a:buFont typeface="Wingdings 3" charset="2"/>
              <a:buNone/>
            </a:pPr>
            <a:r>
              <a:rPr lang="en-US" sz="2400" b="1" dirty="0">
                <a:solidFill>
                  <a:schemeClr val="bg2">
                    <a:lumMod val="60000"/>
                    <a:lumOff val="40000"/>
                  </a:schemeClr>
                </a:solidFill>
              </a:rPr>
              <a:t>🧠 </a:t>
            </a:r>
            <a:r>
              <a:rPr lang="en-US" sz="2400" b="1" u="sng" dirty="0">
                <a:solidFill>
                  <a:schemeClr val="bg2">
                    <a:lumMod val="60000"/>
                    <a:lumOff val="40000"/>
                  </a:schemeClr>
                </a:solidFill>
              </a:rPr>
              <a:t>Core Objective</a:t>
            </a:r>
          </a:p>
          <a:p>
            <a:pPr marL="0" indent="0">
              <a:buFont typeface="Wingdings 3" charset="2"/>
              <a:buNone/>
            </a:pPr>
            <a:r>
              <a:rPr lang="en-US" sz="1600" dirty="0"/>
              <a:t>To develop an intelligent system that can automatically assess movie reviews and provide instant sentiment classification.</a:t>
            </a:r>
          </a:p>
          <a:p>
            <a:pPr marL="0" indent="0">
              <a:buFont typeface="Wingdings 3" charset="2"/>
              <a:buNone/>
            </a:pPr>
            <a:r>
              <a:rPr lang="en-US" sz="1600" dirty="0"/>
              <a:t>To enhance user interaction with a visually appealing, dynamic interface.</a:t>
            </a:r>
          </a:p>
          <a:p>
            <a:pPr marL="0" indent="0">
              <a:buFont typeface="Wingdings 3" charset="2"/>
              <a:buNone/>
            </a:pPr>
            <a:r>
              <a:rPr lang="en-US" sz="1600" dirty="0"/>
              <a:t>To combine NLP + Deep Learning for accurate and scalable text sentiment interpretation.</a:t>
            </a:r>
            <a:endParaRPr lang="en-IN" sz="1600" dirty="0"/>
          </a:p>
        </p:txBody>
      </p:sp>
      <p:sp>
        <p:nvSpPr>
          <p:cNvPr id="7" name="Content Placeholder 4">
            <a:extLst>
              <a:ext uri="{FF2B5EF4-FFF2-40B4-BE49-F238E27FC236}">
                <a16:creationId xmlns:a16="http://schemas.microsoft.com/office/drawing/2014/main" id="{2ABD662A-B4F6-87EA-6352-E53EEEA13D69}"/>
              </a:ext>
            </a:extLst>
          </p:cNvPr>
          <p:cNvSpPr txBox="1">
            <a:spLocks/>
          </p:cNvSpPr>
          <p:nvPr/>
        </p:nvSpPr>
        <p:spPr>
          <a:xfrm>
            <a:off x="8027469" y="1493047"/>
            <a:ext cx="3388478" cy="51756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0" indent="0">
              <a:buFont typeface="Wingdings 3" charset="2"/>
              <a:buNone/>
            </a:pPr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35638231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C4332E-9FCA-4D5E-B9DB-14ACD8A359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10694989" cy="1400530"/>
          </a:xfrm>
        </p:spPr>
        <p:txBody>
          <a:bodyPr/>
          <a:lstStyle/>
          <a:p>
            <a:r>
              <a:rPr lang="en-US" sz="44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Loading And Exploring The Dataset</a:t>
            </a:r>
            <a:endParaRPr lang="en-IN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3DA763-0C6E-4B44-B85C-EBB5F4B043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6111" y="1853249"/>
            <a:ext cx="8946541" cy="347914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Times New Roman"/>
                <a:ea typeface="+mn-lt"/>
                <a:cs typeface="+mn-lt"/>
              </a:rPr>
              <a:t>The dataset was extracted using the IMDB API, containing real user-submitted movie reviews.</a:t>
            </a:r>
          </a:p>
          <a:p>
            <a:pPr marL="0" indent="0">
              <a:buNone/>
            </a:pPr>
            <a:r>
              <a:rPr lang="en-US" dirty="0">
                <a:latin typeface="Times New Roman"/>
                <a:ea typeface="+mn-lt"/>
                <a:cs typeface="+mn-lt"/>
              </a:rPr>
              <a:t>Each review is paired with a corresponding sentiment label:</a:t>
            </a:r>
          </a:p>
          <a:p>
            <a:pPr lvl="1"/>
            <a:r>
              <a:rPr lang="en-US" dirty="0">
                <a:latin typeface="Times New Roman"/>
                <a:ea typeface="+mn-lt"/>
                <a:cs typeface="+mn-lt"/>
              </a:rPr>
              <a:t>1 → Positive Review</a:t>
            </a:r>
          </a:p>
          <a:p>
            <a:pPr lvl="1"/>
            <a:r>
              <a:rPr lang="en-US" dirty="0">
                <a:latin typeface="Times New Roman"/>
                <a:ea typeface="+mn-lt"/>
                <a:cs typeface="+mn-lt"/>
              </a:rPr>
              <a:t>0 → Negative Review</a:t>
            </a:r>
          </a:p>
          <a:p>
            <a:pPr marL="0" indent="0">
              <a:buNone/>
            </a:pPr>
            <a:r>
              <a:rPr lang="en-US" dirty="0">
                <a:latin typeface="Times New Roman"/>
                <a:ea typeface="+mn-lt"/>
                <a:cs typeface="+mn-lt"/>
              </a:rPr>
              <a:t>The dataset reflects genuine audience opinions, ensuring real-world relevance.</a:t>
            </a:r>
          </a:p>
          <a:p>
            <a:pPr marL="0" indent="0">
              <a:buNone/>
            </a:pPr>
            <a:r>
              <a:rPr lang="en-US" dirty="0">
                <a:latin typeface="Times New Roman"/>
                <a:ea typeface="+mn-lt"/>
                <a:cs typeface="+mn-lt"/>
              </a:rPr>
              <a:t>Performed initial data validation:</a:t>
            </a:r>
          </a:p>
          <a:p>
            <a:pPr marL="0" indent="0">
              <a:buNone/>
            </a:pPr>
            <a:r>
              <a:rPr lang="en-US" dirty="0">
                <a:latin typeface="Times New Roman"/>
                <a:ea typeface="+mn-lt"/>
                <a:cs typeface="+mn-lt"/>
              </a:rPr>
              <a:t>Checked for missing values</a:t>
            </a:r>
          </a:p>
        </p:txBody>
      </p:sp>
    </p:spTree>
    <p:extLst>
      <p:ext uri="{BB962C8B-B14F-4D97-AF65-F5344CB8AC3E}">
        <p14:creationId xmlns:p14="http://schemas.microsoft.com/office/powerpoint/2010/main" val="41691576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AFDE5D8-DE2C-4AED-A2BD-F4E700E6B0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856318"/>
          </a:xfrm>
        </p:spPr>
        <p:txBody>
          <a:bodyPr/>
          <a:lstStyle/>
          <a:p>
            <a:r>
              <a:rPr lang="en-IN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A Sample from Dataset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923F749-A433-FA96-8301-76D65AB547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7674" y="1234962"/>
            <a:ext cx="10389505" cy="5623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53626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976C92-D262-4DF3-8D13-B0FB20D082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  <a:latin typeface="Times New Roman"/>
                <a:cs typeface="Times New Roman"/>
              </a:rPr>
              <a:t>Exploratory Data Analysis</a:t>
            </a:r>
            <a:endParaRPr lang="en-IN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E75247-F534-4787-9089-67D90ABD32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5613" y="1420159"/>
            <a:ext cx="5348422" cy="4985123"/>
          </a:xfrm>
        </p:spPr>
        <p:txBody>
          <a:bodyPr/>
          <a:lstStyle/>
          <a:p>
            <a:pPr>
              <a:buFont typeface="Arial"/>
              <a:buChar char="•"/>
            </a:pPr>
            <a:r>
              <a:rPr lang="en-US" dirty="0">
                <a:latin typeface="Times New Roman"/>
                <a:ea typeface="+mn-lt"/>
                <a:cs typeface="+mn-lt"/>
              </a:rPr>
              <a:t>Checking for null values and missing data.</a:t>
            </a:r>
          </a:p>
          <a:p>
            <a:pPr>
              <a:buFont typeface="Arial"/>
              <a:buChar char="•"/>
            </a:pPr>
            <a:r>
              <a:rPr lang="en-US" dirty="0">
                <a:latin typeface="Times New Roman"/>
                <a:ea typeface="+mn-lt"/>
                <a:cs typeface="+mn-lt"/>
              </a:rPr>
              <a:t> Distribution of Positive Reviews vs. Negative Reviews .</a:t>
            </a:r>
            <a:endParaRPr lang="en-US" dirty="0">
              <a:latin typeface="Times New Roman"/>
              <a:cs typeface="Times New Roman"/>
            </a:endParaRPr>
          </a:p>
          <a:p>
            <a:pPr>
              <a:buFont typeface="Arial"/>
              <a:buChar char="•"/>
            </a:pPr>
            <a:r>
              <a:rPr lang="en-US" dirty="0">
                <a:latin typeface="Times New Roman"/>
                <a:ea typeface="+mn-lt"/>
                <a:cs typeface="+mn-lt"/>
              </a:rPr>
              <a:t> Tokenizing news articles and visualizing the most frequent terms.</a:t>
            </a:r>
            <a:endParaRPr lang="en-US" dirty="0">
              <a:latin typeface="Times New Roman"/>
              <a:cs typeface="Times New Roman"/>
            </a:endParaRPr>
          </a:p>
          <a:p>
            <a:pPr>
              <a:buFont typeface="Arial"/>
              <a:buChar char="•"/>
            </a:pPr>
            <a:r>
              <a:rPr lang="en-US" dirty="0">
                <a:latin typeface="Times New Roman"/>
                <a:ea typeface="+mn-lt"/>
                <a:cs typeface="+mn-lt"/>
              </a:rPr>
              <a:t> Checked class distribution in the dataset (</a:t>
            </a:r>
            <a:r>
              <a:rPr lang="en-US" sz="1800" dirty="0">
                <a:latin typeface="Times New Roman"/>
                <a:ea typeface="+mn-lt"/>
                <a:cs typeface="+mn-lt"/>
              </a:rPr>
              <a:t>Positive Reviews vs. Negative Reviews </a:t>
            </a:r>
            <a:r>
              <a:rPr lang="en-US" dirty="0">
                <a:latin typeface="Times New Roman"/>
                <a:ea typeface="+mn-lt"/>
                <a:cs typeface="+mn-lt"/>
              </a:rPr>
              <a:t>).</a:t>
            </a:r>
          </a:p>
          <a:p>
            <a:pPr>
              <a:buFont typeface="Arial"/>
              <a:buChar char="•"/>
            </a:pPr>
            <a:r>
              <a:rPr lang="en-US" dirty="0">
                <a:latin typeface="Times New Roman"/>
                <a:ea typeface="+mn-lt"/>
                <a:cs typeface="+mn-lt"/>
              </a:rPr>
              <a:t> Created visualizations using Seaborn and Matplotlib.</a:t>
            </a:r>
          </a:p>
          <a:p>
            <a:pPr>
              <a:buFont typeface="Arial"/>
              <a:buChar char="•"/>
            </a:pPr>
            <a:r>
              <a:rPr lang="en-US" dirty="0">
                <a:latin typeface="Times New Roman"/>
                <a:ea typeface="+mn-lt"/>
                <a:cs typeface="+mn-lt"/>
              </a:rPr>
              <a:t>Analyzed the number of words in titles and articles.</a:t>
            </a:r>
          </a:p>
          <a:p>
            <a:pPr>
              <a:buFont typeface="Arial"/>
              <a:buChar char="•"/>
            </a:pPr>
            <a:r>
              <a:rPr lang="en-US" dirty="0">
                <a:latin typeface="Times New Roman"/>
                <a:ea typeface="+mn-lt"/>
                <a:cs typeface="+mn-lt"/>
              </a:rPr>
              <a:t> Created bar charts for Reviews .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471B8AF-0956-5A0A-A2F6-D1B7622ADD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5475" y="1420159"/>
            <a:ext cx="3282945" cy="5011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11114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BE2869-FC71-4C82-9397-848CECD30D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85649"/>
            <a:ext cx="4985886" cy="751750"/>
          </a:xfrm>
        </p:spPr>
        <p:txBody>
          <a:bodyPr/>
          <a:lstStyle/>
          <a:p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Data Visualization        </a:t>
            </a:r>
            <a:endParaRPr lang="en-IN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41F6C9BF-2116-4873-BF68-3CFC5A1488D0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37066" y="933651"/>
            <a:ext cx="6054934" cy="42732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9D82212-C201-ED56-96F8-DED1C81AC8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" y="933650"/>
            <a:ext cx="5813659" cy="4273259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8D45999A-1C53-6CE5-A028-CEE01EBE26FE}"/>
              </a:ext>
            </a:extLst>
          </p:cNvPr>
          <p:cNvSpPr txBox="1">
            <a:spLocks/>
          </p:cNvSpPr>
          <p:nvPr/>
        </p:nvSpPr>
        <p:spPr>
          <a:xfrm>
            <a:off x="-2" y="5442462"/>
            <a:ext cx="5813659" cy="132989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sz="16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This image shows us the maximum repeated word present in the reviews after removing the stop-words.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sz="16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The most of the repeated words can be seen are [‘film’, ‘movie’, ‘see’, ‘story’]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F682A7AF-AA38-6C5A-FAFF-AA205F092822}"/>
              </a:ext>
            </a:extLst>
          </p:cNvPr>
          <p:cNvSpPr txBox="1">
            <a:spLocks/>
          </p:cNvSpPr>
          <p:nvPr/>
        </p:nvSpPr>
        <p:spPr>
          <a:xfrm>
            <a:off x="6096000" y="5428381"/>
            <a:ext cx="6096000" cy="132989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sz="16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This image shows the data distribution of two output categories between (Positive and Negative) reviews.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sz="16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And its shows that we have a perfectly balanced dataset, with approximately 6000 reviews from each of the output variable.</a:t>
            </a:r>
          </a:p>
        </p:txBody>
      </p:sp>
    </p:spTree>
    <p:extLst>
      <p:ext uri="{BB962C8B-B14F-4D97-AF65-F5344CB8AC3E}">
        <p14:creationId xmlns:p14="http://schemas.microsoft.com/office/powerpoint/2010/main" val="41103849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8F6320-8FCB-4664-9B0A-C7614EC098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67708"/>
            <a:ext cx="5909912" cy="1400530"/>
          </a:xfrm>
        </p:spPr>
        <p:txBody>
          <a:bodyPr/>
          <a:lstStyle/>
          <a:p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/>
                <a:cs typeface="Times New Roman"/>
              </a:rPr>
              <a:t>FEATURE ENGINEERING</a:t>
            </a:r>
            <a:endParaRPr lang="en-IN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D1C693-0E84-4550-9485-1346667DDF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468238"/>
            <a:ext cx="4803006" cy="5322053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endParaRPr lang="en-US" sz="1600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sz="1600" dirty="0"/>
              <a:t>Converted all reviews to lowercase for consistency.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600" dirty="0"/>
              <a:t>Removed punctuation, digits, and stop words to clean the text.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600" dirty="0"/>
              <a:t>Tokenized the cleaned text into sequences of integers.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600" dirty="0"/>
              <a:t>Applied padding to ensure uniform sequence length (837 words).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600" dirty="0"/>
              <a:t>Analyzed vocabulary size and maximum review length.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600" dirty="0"/>
              <a:t>Used Word Embedding (Word2Vec) to convert words into dense vectors.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600" dirty="0"/>
              <a:t>Embedding dimension set to 10 for compact word representation.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600" dirty="0"/>
              <a:t>Prepared numerical inputs ready for deep learning models.</a:t>
            </a:r>
            <a:endParaRPr lang="en-IN" sz="16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9B6AEE4-1E3A-9E6F-759F-397D7FB46F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5137" y="1"/>
            <a:ext cx="718686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05547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6A0171-856D-4808-91FD-4A0598EA16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/>
                <a:cs typeface="Times New Roman"/>
              </a:rPr>
              <a:t>MODEL BUILDING</a:t>
            </a:r>
            <a:endParaRPr lang="en-IN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17F554-AEEF-4A9E-A4C0-2033F5FC87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7460" y="1540043"/>
            <a:ext cx="5337066" cy="5159140"/>
          </a:xfrm>
        </p:spPr>
        <p:txBody>
          <a:bodyPr>
            <a:normAutofit/>
          </a:bodyPr>
          <a:lstStyle/>
          <a:p>
            <a:r>
              <a:rPr lang="en-IN" b="1" u="sng" dirty="0"/>
              <a:t>Deep Learning Model: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sz="1600" b="1" dirty="0"/>
              <a:t>Embedding Layers: </a:t>
            </a:r>
            <a:r>
              <a:rPr lang="en-IN" sz="1600" dirty="0"/>
              <a:t>Transform </a:t>
            </a:r>
            <a:r>
              <a:rPr lang="en-US" sz="1600" dirty="0"/>
              <a:t>word indices into dense 300-dimensional vectors, capturing semantic meaning.</a:t>
            </a:r>
            <a:endParaRPr lang="en-IN" sz="1600" dirty="0"/>
          </a:p>
          <a:p>
            <a:pPr>
              <a:buFont typeface="Wingdings" panose="05000000000000000000" pitchFamily="2" charset="2"/>
              <a:buChar char="v"/>
            </a:pPr>
            <a:r>
              <a:rPr lang="en-IN" sz="1600" b="1" dirty="0"/>
              <a:t>Bidirectional GRU(128 Units): </a:t>
            </a:r>
            <a:r>
              <a:rPr lang="en-US" sz="1600" dirty="0"/>
              <a:t>Processes sequences in both forward and backward directions to capture contextual information from both past and future words.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1600" b="1" dirty="0"/>
              <a:t>Dropout (30%): </a:t>
            </a:r>
            <a:r>
              <a:rPr lang="en-US" sz="1600" dirty="0"/>
              <a:t>Prevents overfitting by randomly dropping units during training.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sz="1600" b="1" dirty="0"/>
              <a:t>GRU Layer (64 Units): </a:t>
            </a:r>
            <a:r>
              <a:rPr lang="en-US" sz="1600" dirty="0"/>
              <a:t>Further learns temporal dependencies in the text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1600" b="1" dirty="0"/>
              <a:t>Dense Layer (Sigmoid Activation)</a:t>
            </a:r>
            <a:r>
              <a:rPr lang="en-US" sz="1600" dirty="0"/>
              <a:t>: Outputs a probability score for binary classification (positive or negative sentiment).</a:t>
            </a:r>
            <a:endParaRPr lang="en-US" sz="1600" b="1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6140ED2-0A59-45B8-89E1-B47DF74DB756}"/>
              </a:ext>
            </a:extLst>
          </p:cNvPr>
          <p:cNvSpPr/>
          <p:nvPr/>
        </p:nvSpPr>
        <p:spPr>
          <a:xfrm>
            <a:off x="3048000" y="1859340"/>
            <a:ext cx="6096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en-US" dirty="0">
              <a:latin typeface="Times New Roman"/>
              <a:cs typeface="Times New Roman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1D6849E-7E98-D7C3-4AD3-7D1DD7B65B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98156" y="0"/>
            <a:ext cx="649384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20947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7AA7B3-BB06-4C24-85D7-C62910BDEE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/>
                <a:cs typeface="Times New Roman"/>
              </a:rPr>
              <a:t>Confusion Matrix</a:t>
            </a:r>
            <a:endParaRPr lang="en-IN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6C1AB3A9-D5F9-DA72-DA2C-C9C4461302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34475" y="1483214"/>
            <a:ext cx="5329728" cy="419548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b="1" u="sng" dirty="0"/>
              <a:t>1. Overall Accuracy</a:t>
            </a:r>
          </a:p>
          <a:p>
            <a:pPr marL="0" indent="0">
              <a:buNone/>
            </a:pPr>
            <a:r>
              <a:rPr lang="en-IN" sz="1600" dirty="0"/>
              <a:t>Out of 25,000 prediction 24,515 are correct. This gives an accuracy of 98.52% indicating excellent performance.</a:t>
            </a:r>
          </a:p>
          <a:p>
            <a:pPr marL="0" indent="0">
              <a:buNone/>
            </a:pPr>
            <a:r>
              <a:rPr lang="en-IN" b="1" u="sng" dirty="0"/>
              <a:t>2. Balanced Performance</a:t>
            </a:r>
          </a:p>
          <a:p>
            <a:pPr marL="0" indent="0">
              <a:buNone/>
            </a:pPr>
            <a:r>
              <a:rPr lang="en-US" sz="1600" b="1" dirty="0">
                <a:latin typeface="Century Gothic (Headings)"/>
              </a:rPr>
              <a:t>-&gt; True Negatives (TN): 12,315</a:t>
            </a:r>
            <a:r>
              <a:rPr lang="en-US" sz="1600" dirty="0">
                <a:latin typeface="Century Gothic (Headings)"/>
              </a:rPr>
              <a:t> → Model correctly predicted class 0.</a:t>
            </a:r>
            <a:endParaRPr lang="en-IN" sz="1600" dirty="0">
              <a:latin typeface="Century Gothic (Headings)"/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 (Headings)"/>
              </a:rPr>
              <a:t>-&gt; True Positives(TP):</a:t>
            </a:r>
            <a:r>
              <a:rPr lang="en-US" altLang="en-US" sz="1600" b="1" dirty="0">
                <a:latin typeface="Century Gothic (Headings)"/>
              </a:rPr>
              <a:t> 12,200</a:t>
            </a:r>
            <a:r>
              <a:rPr lang="en-US" altLang="en-US" sz="1600" dirty="0">
                <a:latin typeface="Century Gothic (Headings)"/>
              </a:rPr>
              <a:t> → Model correctly predicted class 1.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600" b="1" dirty="0">
                <a:latin typeface="Century Gothic (Headings)"/>
              </a:rPr>
              <a:t>-&gt; False Positives (FP): 250</a:t>
            </a:r>
            <a:r>
              <a:rPr lang="en-US" altLang="en-US" sz="1600" dirty="0">
                <a:latin typeface="Century Gothic (Headings)"/>
              </a:rPr>
              <a:t> → Model predicted 1 when the actual label was 0.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600" b="1" dirty="0">
                <a:latin typeface="Century Gothic (Headings)"/>
              </a:rPr>
              <a:t>-&gt; False Negatives (FN): 235</a:t>
            </a:r>
            <a:r>
              <a:rPr lang="en-US" altLang="en-US" sz="1600" dirty="0">
                <a:latin typeface="Century Gothic (Headings)"/>
              </a:rPr>
              <a:t> → Model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 (Headings)"/>
              </a:rPr>
              <a:t>predicted 0 when the actual label was 1.</a:t>
            </a:r>
          </a:p>
          <a:p>
            <a:pPr marL="0" indent="0">
              <a:buNone/>
            </a:pPr>
            <a:endParaRPr lang="en-IN" sz="16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ED395B1-B436-7183-148A-A1B3B79054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717" y="1483214"/>
            <a:ext cx="5792456" cy="4503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77650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1B93E5-184F-4935-91F6-EE0BDB9FC0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197270"/>
            <a:ext cx="9404723" cy="700265"/>
          </a:xfrm>
        </p:spPr>
        <p:txBody>
          <a:bodyPr/>
          <a:lstStyle/>
          <a:p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/>
                <a:ea typeface="Calibri"/>
                <a:cs typeface="Calibri"/>
              </a:rPr>
              <a:t>MODEL DEPLOYMENT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EACF97D-F3CB-99C5-8D54-C2AFBA02E3B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417323"/>
            <a:ext cx="8527983" cy="245444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0160A2F-2A2C-2FCA-95F3-5D79A76DA67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3902264"/>
            <a:ext cx="8527983" cy="2609227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291788A8-21F2-659D-C630-6D41AC4F4497}"/>
              </a:ext>
            </a:extLst>
          </p:cNvPr>
          <p:cNvSpPr txBox="1">
            <a:spLocks/>
          </p:cNvSpPr>
          <p:nvPr/>
        </p:nvSpPr>
        <p:spPr>
          <a:xfrm>
            <a:off x="8527983" y="1278552"/>
            <a:ext cx="3664017" cy="5160749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IN" sz="2400" b="1" u="sng" dirty="0"/>
              <a:t>Steps to get the app</a:t>
            </a:r>
            <a:endParaRPr lang="en-IN" sz="100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600" dirty="0"/>
              <a:t>Activate the virtual environment.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600" dirty="0"/>
              <a:t>Install all the dependencies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600" dirty="0"/>
              <a:t>Run the streamlit app.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600" dirty="0"/>
              <a:t>Visit the site -&gt; </a:t>
            </a:r>
            <a:r>
              <a:rPr lang="en-IN" sz="1600" dirty="0">
                <a:hlinkClick r:id="rId4"/>
              </a:rPr>
              <a:t>Click Here to explore </a:t>
            </a:r>
            <a:r>
              <a:rPr lang="en-IN" sz="1600" dirty="0" err="1">
                <a:hlinkClick r:id="rId4"/>
              </a:rPr>
              <a:t>CineMod</a:t>
            </a:r>
            <a:r>
              <a:rPr lang="en-IN" sz="1600" dirty="0">
                <a:hlinkClick r:id="rId4"/>
              </a:rPr>
              <a:t> AI</a:t>
            </a:r>
            <a:endParaRPr lang="en-IN" sz="1600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600" dirty="0"/>
              <a:t>You can also check deployed app here -&gt; </a:t>
            </a:r>
            <a:r>
              <a:rPr lang="en-IN" sz="1600" dirty="0" err="1">
                <a:hlinkClick r:id="rId5"/>
              </a:rPr>
              <a:t>DeloyedApp</a:t>
            </a:r>
            <a:endParaRPr lang="en-IN" sz="1000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600" dirty="0"/>
              <a:t>You will first encounter the introduction for the app.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600" dirty="0"/>
              <a:t>Scroll down.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600" dirty="0"/>
              <a:t>Write a review between 20-25 words for better review output.</a:t>
            </a:r>
          </a:p>
        </p:txBody>
      </p:sp>
    </p:spTree>
    <p:extLst>
      <p:ext uri="{BB962C8B-B14F-4D97-AF65-F5344CB8AC3E}">
        <p14:creationId xmlns:p14="http://schemas.microsoft.com/office/powerpoint/2010/main" val="37666878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A58214-EB64-515D-D309-20F5BFC4F6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3249F93-79D6-B8D2-DD9B-E8FECC060D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0352" y="250588"/>
            <a:ext cx="5013544" cy="856318"/>
          </a:xfrm>
        </p:spPr>
        <p:txBody>
          <a:bodyPr/>
          <a:lstStyle/>
          <a:p>
            <a:r>
              <a:rPr lang="en-IN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Challenges Faced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705F6A4-8525-5B57-22F4-1D674871EEA3}"/>
              </a:ext>
            </a:extLst>
          </p:cNvPr>
          <p:cNvSpPr txBox="1"/>
          <p:nvPr/>
        </p:nvSpPr>
        <p:spPr>
          <a:xfrm>
            <a:off x="280352" y="1256396"/>
            <a:ext cx="11606848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IN" b="1" dirty="0"/>
              <a:t>Embedding Layer (300D)</a:t>
            </a:r>
            <a:r>
              <a:rPr lang="en-IN" dirty="0"/>
              <a:t>: Capturing semantic relationships without exceeding memory limits; required tuning vector size and vocabulary coverage.</a:t>
            </a:r>
          </a:p>
          <a:p>
            <a:pPr marL="342900" indent="-342900">
              <a:buFont typeface="+mj-lt"/>
              <a:buAutoNum type="arabicPeriod"/>
            </a:pPr>
            <a:endParaRPr lang="en-IN" dirty="0"/>
          </a:p>
          <a:p>
            <a:pPr marL="342900" indent="-342900">
              <a:buFont typeface="+mj-lt"/>
              <a:buAutoNum type="arabicPeriod"/>
            </a:pPr>
            <a:r>
              <a:rPr lang="en-IN" b="1" dirty="0"/>
              <a:t>Bidirectional GRU (128 Units)</a:t>
            </a:r>
            <a:r>
              <a:rPr lang="en-IN" dirty="0"/>
              <a:t>: Improved contextual understanding but increased training time and required careful gradient management.</a:t>
            </a:r>
          </a:p>
          <a:p>
            <a:pPr marL="342900" indent="-342900">
              <a:buFont typeface="+mj-lt"/>
              <a:buAutoNum type="arabicPeriod"/>
            </a:pPr>
            <a:endParaRPr lang="en-IN" dirty="0"/>
          </a:p>
          <a:p>
            <a:pPr marL="342900" indent="-342900">
              <a:buFont typeface="+mj-lt"/>
              <a:buAutoNum type="arabicPeriod"/>
            </a:pPr>
            <a:r>
              <a:rPr lang="en-IN" b="1" dirty="0"/>
              <a:t>Preprocessing Consistency</a:t>
            </a:r>
            <a:r>
              <a:rPr lang="en-IN" dirty="0"/>
              <a:t>: Ensuring identical tokenization, padding, and word-index mapping between training and inference stages to maintain model accuracy.</a:t>
            </a:r>
          </a:p>
          <a:p>
            <a:pPr marL="342900" indent="-342900">
              <a:buFont typeface="+mj-lt"/>
              <a:buAutoNum type="arabicPeriod"/>
            </a:pPr>
            <a:endParaRPr lang="en-IN" dirty="0"/>
          </a:p>
          <a:p>
            <a:pPr marL="342900" indent="-342900">
              <a:buFont typeface="+mj-lt"/>
              <a:buAutoNum type="arabicPeriod"/>
            </a:pPr>
            <a:r>
              <a:rPr lang="en-IN" b="1" dirty="0"/>
              <a:t>Out-of-Vocabulary Handling</a:t>
            </a:r>
            <a:r>
              <a:rPr lang="en-IN" dirty="0"/>
              <a:t>: Managing unseen or rare words during prediction with fallback embeddings or masking strategies.</a:t>
            </a:r>
          </a:p>
          <a:p>
            <a:pPr marL="342900" indent="-342900">
              <a:buFont typeface="+mj-lt"/>
              <a:buAutoNum type="arabicPeriod"/>
            </a:pPr>
            <a:endParaRPr lang="en-IN" dirty="0"/>
          </a:p>
          <a:p>
            <a:pPr marL="342900" indent="-342900">
              <a:buFont typeface="+mj-lt"/>
              <a:buAutoNum type="arabicPeriod"/>
            </a:pPr>
            <a:r>
              <a:rPr lang="en-IN" b="1" dirty="0"/>
              <a:t>Exception Handling</a:t>
            </a:r>
            <a:r>
              <a:rPr lang="en-IN" dirty="0"/>
              <a:t>: Building robust error handling for invalid inputs, empty reviews, and unexpected user behaviour to ensure smooth web app performance.</a:t>
            </a:r>
          </a:p>
        </p:txBody>
      </p:sp>
    </p:spTree>
    <p:extLst>
      <p:ext uri="{BB962C8B-B14F-4D97-AF65-F5344CB8AC3E}">
        <p14:creationId xmlns:p14="http://schemas.microsoft.com/office/powerpoint/2010/main" val="41185313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81991-FD84-4B30-A527-658DC8534E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2" y="452718"/>
            <a:ext cx="7092600" cy="1136374"/>
          </a:xfrm>
        </p:spPr>
        <p:txBody>
          <a:bodyPr/>
          <a:lstStyle/>
          <a:p>
            <a:r>
              <a:rPr lang="en-IN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PURPOSE OF THE PROJECT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BA5E04-DBEF-4173-A56B-78698F4DC8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6111" y="1589092"/>
            <a:ext cx="6168575" cy="4816190"/>
          </a:xfrm>
        </p:spPr>
        <p:txBody>
          <a:bodyPr>
            <a:normAutofit/>
          </a:bodyPr>
          <a:lstStyle/>
          <a:p>
            <a:endParaRPr lang="en-US" sz="1800" dirty="0">
              <a:latin typeface="Times New Roman"/>
              <a:ea typeface="+mn-lt"/>
              <a:cs typeface="+mn-lt"/>
            </a:endParaRPr>
          </a:p>
          <a:p>
            <a:r>
              <a:rPr lang="en-US" sz="1800" dirty="0">
                <a:latin typeface="Times New Roman"/>
                <a:ea typeface="+mn-lt"/>
                <a:cs typeface="+mn-lt"/>
              </a:rPr>
              <a:t>To build an intelligent system that automatically analyzes and classifies movie reviews based on sentiment.</a:t>
            </a:r>
          </a:p>
          <a:p>
            <a:r>
              <a:rPr lang="en-US" sz="1800" dirty="0">
                <a:latin typeface="Times New Roman"/>
                <a:ea typeface="+mn-lt"/>
                <a:cs typeface="+mn-lt"/>
              </a:rPr>
              <a:t>To offer a real-time, interactive experience for users submitting their opinions on movies.</a:t>
            </a:r>
          </a:p>
          <a:p>
            <a:r>
              <a:rPr lang="en-US" sz="1800" dirty="0">
                <a:latin typeface="Times New Roman"/>
                <a:ea typeface="+mn-lt"/>
                <a:cs typeface="+mn-lt"/>
              </a:rPr>
              <a:t>To help viewers and platforms understand public sentiment towards movies using deep learning techniques.</a:t>
            </a:r>
          </a:p>
          <a:p>
            <a:r>
              <a:rPr lang="en-US" sz="1800" dirty="0">
                <a:latin typeface="Times New Roman"/>
                <a:ea typeface="+mn-lt"/>
                <a:cs typeface="+mn-lt"/>
              </a:rPr>
              <a:t>To demonstrate the power of AI and NLP in interpreting human language with high accuracy.</a:t>
            </a:r>
          </a:p>
          <a:p>
            <a:r>
              <a:rPr lang="en-US" sz="1800" dirty="0">
                <a:latin typeface="Times New Roman"/>
                <a:ea typeface="+mn-lt"/>
                <a:cs typeface="+mn-lt"/>
              </a:rPr>
              <a:t>To provide a user-friendly web application with engaging visuals and interactive feedback.</a:t>
            </a:r>
          </a:p>
          <a:p>
            <a:r>
              <a:rPr lang="en-US" sz="1800" dirty="0">
                <a:latin typeface="Times New Roman"/>
                <a:ea typeface="+mn-lt"/>
                <a:cs typeface="+mn-lt"/>
              </a:rPr>
              <a:t>To bridge the gap between user expression and automated sentiment detection using TensorFlow and Streamlit.</a:t>
            </a:r>
          </a:p>
          <a:p>
            <a:endParaRPr lang="en-US" sz="1800" dirty="0">
              <a:latin typeface="Times New Roman"/>
              <a:ea typeface="+mn-lt"/>
              <a:cs typeface="+mn-lt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A0011B8-AB23-1AA7-7F9A-43553EFBDF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4429" y="1589092"/>
            <a:ext cx="5627571" cy="4816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333579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8279D9D-A5EC-411F-8D1A-ADBC611EF4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6928" y="2453796"/>
            <a:ext cx="9404723" cy="1400530"/>
          </a:xfrm>
        </p:spPr>
        <p:txBody>
          <a:bodyPr/>
          <a:lstStyle/>
          <a:p>
            <a:pPr algn="ctr"/>
            <a:r>
              <a:rPr lang="en-U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/>
                <a:cs typeface="Times New Roman"/>
              </a:rPr>
              <a:t>THANK YOU</a:t>
            </a:r>
            <a:endParaRPr lang="en-IN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8585056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0E5580"/>
      </a:dk2>
      <a:lt2>
        <a:srgbClr val="EBEBEB"/>
      </a:lt2>
      <a:accent1>
        <a:srgbClr val="ACD433"/>
      </a:accent1>
      <a:accent2>
        <a:srgbClr val="E6C133"/>
      </a:accent2>
      <a:accent3>
        <a:srgbClr val="EF7A24"/>
      </a:accent3>
      <a:accent4>
        <a:srgbClr val="5AA0F5"/>
      </a:accent4>
      <a:accent5>
        <a:srgbClr val="75CEEC"/>
      </a:accent5>
      <a:accent6>
        <a:srgbClr val="65D6A0"/>
      </a:accent6>
      <a:hlink>
        <a:srgbClr val="C4E46E"/>
      </a:hlink>
      <a:folHlink>
        <a:srgbClr val="BDE0F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2000"/>
                <a:hueMod val="96000"/>
                <a:satMod val="128000"/>
                <a:lumMod val="114000"/>
              </a:schemeClr>
            </a:gs>
            <a:gs pos="100000">
              <a:schemeClr val="phClr">
                <a:shade val="62000"/>
                <a:hueMod val="100000"/>
                <a:satMod val="13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2000"/>
                <a:hueMod val="108000"/>
                <a:satMod val="164000"/>
                <a:lumMod val="69000"/>
              </a:schemeClr>
              <a:schemeClr val="phClr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BACC050B-8757-4460-95D8-E37B46A6B42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564</TotalTime>
  <Words>940</Words>
  <Application>Microsoft Office PowerPoint</Application>
  <PresentationFormat>Widescreen</PresentationFormat>
  <Paragraphs>100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Arial</vt:lpstr>
      <vt:lpstr>Century Gothic</vt:lpstr>
      <vt:lpstr>Century Gothic (Headings)</vt:lpstr>
      <vt:lpstr>Times New Roman</vt:lpstr>
      <vt:lpstr>Wingdings</vt:lpstr>
      <vt:lpstr>Wingdings 3</vt:lpstr>
      <vt:lpstr>Ion</vt:lpstr>
      <vt:lpstr>CineMood AI: Where AI meets Emotion</vt:lpstr>
      <vt:lpstr>CONTENTS</vt:lpstr>
      <vt:lpstr>PROJECT DESCRIPTION Utilizing machine learning to predict IMBD sentiment analysis   </vt:lpstr>
      <vt:lpstr>Loading And Exploring The Dataset</vt:lpstr>
      <vt:lpstr>A Sample from Dataset</vt:lpstr>
      <vt:lpstr>Exploratory Data Analysis</vt:lpstr>
      <vt:lpstr>Data Visualization        </vt:lpstr>
      <vt:lpstr>FEATURE ENGINEERING</vt:lpstr>
      <vt:lpstr>MODEL BUILDING</vt:lpstr>
      <vt:lpstr>Confusion Matrix</vt:lpstr>
      <vt:lpstr>MODEL DEPLOYMENT</vt:lpstr>
      <vt:lpstr>Challenges Faced</vt:lpstr>
      <vt:lpstr>PURPOSE OF THE PROJECT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 RAVINDRA RAVINDRA</dc:creator>
  <cp:lastModifiedBy>Subrat Mishra</cp:lastModifiedBy>
  <cp:revision>50</cp:revision>
  <dcterms:created xsi:type="dcterms:W3CDTF">2025-03-31T02:13:56Z</dcterms:created>
  <dcterms:modified xsi:type="dcterms:W3CDTF">2025-04-06T05:03:01Z</dcterms:modified>
</cp:coreProperties>
</file>